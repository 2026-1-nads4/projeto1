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834591"/>
            <a:ext cx="7315200" cy="3474318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43025" y="1270360"/>
            <a:ext cx="64579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spc="-1" kern="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Talent Bridge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343025" y="1995450"/>
            <a:ext cx="64579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Conectando o talento brasileiro às oportunidades globais com precisão, transparência e tecnologia.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43025" y="3357004"/>
            <a:ext cx="30825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EQUIPE FUNDADORA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43025" y="3644540"/>
            <a:ext cx="30825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Bianca · Eriane · Erik · Gustavo · Kauã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8447" y="3357004"/>
            <a:ext cx="30825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ORIENTADOR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18447" y="3644540"/>
            <a:ext cx="30825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Prof. Aimar Martins Lopes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Mercado Sofre com a "Síndrome da Caixa Preta"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41214"/>
            <a:ext cx="3200400" cy="4002286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818CF8">
                <a:alpha val="4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525148"/>
            <a:ext cx="2628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3039498"/>
            <a:ext cx="26289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processo seletivo atual descarta talentos antes mesmo de avaliá-los.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1737243"/>
            <a:ext cx="12501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68416" y="1708668"/>
            <a:ext cx="410408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Candidatos enviam currículos que desaparecem sem qualquer retorno — o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chamado </a:t>
            </a: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"buraco negro"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do recrutamento.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2453013"/>
            <a:ext cx="125016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68416" y="2424438"/>
            <a:ext cx="41040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mercado digital é dominado por plataformas que funcionam como </a:t>
            </a: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catálogos mortos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vagas fantasmas, formulários repetitivos e algoritmos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silenciosos.</a:t>
            </a:r>
            <a:endParaRPr lang="en-US" sz="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525" y="3351647"/>
            <a:ext cx="125016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468416" y="3323072"/>
            <a:ext cx="410408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Quase </a:t>
            </a: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100% dos candidatos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já utilizam plataformas online, mas a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experiência é frustrante e opaca.</a:t>
            </a:r>
            <a:endParaRPr lang="en-US" sz="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525" y="4067417"/>
            <a:ext cx="125016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468416" y="4038842"/>
            <a:ext cx="410408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Falta transparência: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 candidato nunca sabe por que foi rejeitado nem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como melhorar.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Dois Públicos, Uma Dor em Comum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69777"/>
            <a:ext cx="8001000" cy="346472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Jovens em busca do primeiro emprego e profissionais em transição compartilham o mesmo obstáculo: a falta de uma ponte confiável.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701998"/>
            <a:ext cx="3857625" cy="215057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866" y="1987748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6603" y="2416373"/>
            <a:ext cx="2200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Jovem em busca do 1º emprego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987" y="2661047"/>
            <a:ext cx="2737479" cy="2000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18 – 25 ANOS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785813" y="3003947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Enfrenta extrema dificuldade em destacar suas habilidades e potencial sem possuir experiência formal no mercado de trabalho.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07731" y="1701998"/>
            <a:ext cx="3864769" cy="2136288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672" y="1987748"/>
            <a:ext cx="250031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70364" y="2416373"/>
            <a:ext cx="17466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Profissional em transição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272088" y="2661047"/>
            <a:ext cx="2743200" cy="2000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25 – 45 ANOS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4929188" y="3003947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Busca oportunidades globais, mas esbarra na falta de informação clara sobre as exigências e na barreira do idioma.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1500" y="4124037"/>
            <a:ext cx="8001000" cy="530423"/>
          </a:xfrm>
          <a:prstGeom prst="rect">
            <a:avLst/>
          </a:prstGeom>
          <a:solidFill>
            <a:srgbClr val="0F172A">
              <a:alpha val="3000"/>
            </a:srgbClr>
          </a:solidFill>
          <a:ln w="9144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71500" y="4124037"/>
            <a:ext cx="8001000" cy="530423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talento existe. O que falta é uma </a:t>
            </a:r>
            <a:r>
              <a:rPr lang="en-US" sz="10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ponte confiável</a:t>
            </a:r>
            <a:r>
              <a:rPr lang="en-US" sz="10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entre candidato e oportunidade.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Os Concorrentes Não Resolvem o Problema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69777"/>
            <a:ext cx="8001000" cy="17323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LinkedIn, Gupy, Catho e InfoJobs dominam o mercado, mas perpetuam as mesmas falhas que frustram os candidatos.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28763"/>
            <a:ext cx="3893344" cy="998339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71650"/>
            <a:ext cx="1714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138" y="1743075"/>
            <a:ext cx="31503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Vagas Fantasmas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0138" y="1955602"/>
            <a:ext cx="31503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Publicações abandonadas pelas empresas sem qualquer atualização ou encerramento do processo.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79156" y="1528763"/>
            <a:ext cx="3893344" cy="998339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77165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64944" y="1743075"/>
            <a:ext cx="30932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Formulários Repetitivos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264944" y="1955602"/>
            <a:ext cx="30932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candidato é forçado a preencher os mesmos dados exaustivamente em cada novo processo seletivo.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571500" y="2727127"/>
            <a:ext cx="3893344" cy="998339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970014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4438" y="2941439"/>
            <a:ext cx="30360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Algoritmos Opacos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214438" y="3153966"/>
            <a:ext cx="3036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Descarte automático de currículos sem qualquer explicação, feedback ou critério claro.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4679156" y="2727127"/>
            <a:ext cx="3893344" cy="998339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97001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64944" y="2941439"/>
            <a:ext cx="30932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Nenhuma Transformação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264944" y="3153966"/>
            <a:ext cx="30932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Nenhuma dessas plataformas transforma uma rejeição em oportunidade de crescimento ou qualificação.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571500" y="3996928"/>
            <a:ext cx="8001000" cy="455414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71500" y="3996928"/>
            <a:ext cx="800100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mercado exige transparência — e nenhum dos gigantes entregou isso ainda.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Nossa Solução: A "Caixa de Vidro"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69777"/>
            <a:ext cx="8001000" cy="3787973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1355527"/>
            <a:ext cx="7429500" cy="528638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Transformamos o processo seletivo opaco em um sistema totalmente </a:t>
            </a:r>
            <a:r>
              <a:rPr lang="en-US" sz="11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transparente e orientado por dados</a:t>
            </a:r>
            <a:r>
              <a:rPr lang="en-US" sz="11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57250" y="2169914"/>
            <a:ext cx="285750" cy="285750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27064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300" y="2235101"/>
            <a:ext cx="1101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MATCH POR NLP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57250" y="2541389"/>
            <a:ext cx="3571875" cy="548590"/>
          </a:xfrm>
          <a:prstGeom prst="rect">
            <a:avLst/>
          </a:prstGeom>
          <a:noFill/>
          <a:ln/>
        </p:spPr>
        <p:txBody>
          <a:bodyPr wrap="square" lIns="47625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IA cruza palavras-chave do currículo com os requisitos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 vaga e entrega a </a:t>
            </a:r>
            <a:r>
              <a:rPr lang="en-US" sz="80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porcentagem exata de compatibilidade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(ex.: Match de 41,37%).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4875" y="2169914"/>
            <a:ext cx="285750" cy="285750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2227064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14925" y="2235101"/>
            <a:ext cx="16109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TRANSPARÊNCIA TOTAL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14875" y="2541389"/>
            <a:ext cx="3571875" cy="548590"/>
          </a:xfrm>
          <a:prstGeom prst="rect">
            <a:avLst/>
          </a:prstGeom>
          <a:noFill/>
          <a:ln/>
        </p:spPr>
        <p:txBody>
          <a:bodyPr wrap="square" lIns="47625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candidato vê exatamente por que foi aprovado ou rejeitado, eliminando a incerteza e a ansiedade do processo.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857250" y="3513832"/>
            <a:ext cx="285750" cy="285750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70982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57300" y="3579019"/>
            <a:ext cx="14144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JORNADA CONTÍNUA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57250" y="3885307"/>
            <a:ext cx="3571875" cy="548590"/>
          </a:xfrm>
          <a:prstGeom prst="rect">
            <a:avLst/>
          </a:prstGeom>
          <a:noFill/>
          <a:ln/>
        </p:spPr>
        <p:txBody>
          <a:bodyPr wrap="square" lIns="47625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Ao ser rejeitado, o candidato recebe imediatamente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recomendações de </a:t>
            </a:r>
            <a:r>
              <a:rPr lang="en-US" sz="80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trilhas gratuitas de capacitação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(ex.: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Santander Open Academy).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714875" y="3513832"/>
            <a:ext cx="285750" cy="285750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3570982"/>
            <a:ext cx="128588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14925" y="3579019"/>
            <a:ext cx="16412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QUALIFICAÇÃO TÉCNICA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714875" y="3885307"/>
            <a:ext cx="3571875" cy="365727"/>
          </a:xfrm>
          <a:prstGeom prst="rect">
            <a:avLst/>
          </a:prstGeom>
          <a:noFill/>
          <a:ln/>
        </p:spPr>
        <p:txBody>
          <a:bodyPr wrap="square" lIns="47625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Cada rejeição se transforma em qualificação técnica — o </a:t>
            </a:r>
            <a:r>
              <a:rPr lang="en-US" sz="80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diferencial exclusivo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que nenhum concorrente oferece.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 Negócio SaaS Escalável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69777"/>
            <a:ext cx="8001000" cy="346472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 ticket médio entre R$ 30 e R$ 40 mensais e 2.500 clientes ativos, a projeção de faturamento anual chega a R$ 756.814,50.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30573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109" y="1701998"/>
            <a:ext cx="366831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Produto âncora: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"Raio-X de Currículo" por R$ 10,00 — porta de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entrada de baixo custo para o ecossistema.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7769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2389194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Plano recorrente (SaaS):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ticket médio de R$ 30,00 a R$ 40,00/mês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por cliente.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4964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250" y="3076389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 alta escalabilidade: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crescimento de receita sem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crescimento proporcional de custos operacionais.</a:t>
            </a:r>
            <a:endParaRPr lang="en-US" sz="850" dirty="0"/>
          </a:p>
        </p:txBody>
      </p:sp>
      <p:sp>
        <p:nvSpPr>
          <p:cNvPr id="11" name="Shape 5"/>
          <p:cNvSpPr/>
          <p:nvPr/>
        </p:nvSpPr>
        <p:spPr>
          <a:xfrm>
            <a:off x="4972050" y="1701998"/>
            <a:ext cx="3600450" cy="3441502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257800" y="2396728"/>
            <a:ext cx="30289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META DO 1º CICLO ANUAL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5257800" y="2605683"/>
            <a:ext cx="30289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2.500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5257800" y="3055739"/>
            <a:ext cx="3028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clientes ativos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5257800" y="3755827"/>
            <a:ext cx="30289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PROJEÇÃO DE FATURAMENTO (ANO 1)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5257800" y="3964781"/>
            <a:ext cx="3028950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R$ 756.814,50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Estratégia de Tração e Aquisição de Clientes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69777"/>
            <a:ext cx="8001000" cy="17323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Mais de </a:t>
            </a: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R$ 58 mil investidos</a:t>
            </a: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em comunicação digital no primeiro ano, com foco em canais de alta conversão.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28763"/>
            <a:ext cx="3200400" cy="3614738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99270" y="2195810"/>
            <a:ext cx="174486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ALOCAÇÃO DE ORÇAMENTO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476202"/>
            <a:ext cx="2757488" cy="2000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0525" y="1692176"/>
            <a:ext cx="1950188" cy="35361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CANAL / AÇÃO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150713" y="1692176"/>
            <a:ext cx="2421787" cy="35361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OBJETIVO PRINCIPAL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314825" y="2163663"/>
            <a:ext cx="14859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Redes Sociais &amp; Social Ads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314825" y="2301180"/>
            <a:ext cx="3982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(~33%)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150713" y="2045791"/>
            <a:ext cx="2421787" cy="5107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Geração de leads B2C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314825" y="2674441"/>
            <a:ext cx="6393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Google Ads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54191" y="2674441"/>
            <a:ext cx="4304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(~20%)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150713" y="2556570"/>
            <a:ext cx="2421787" cy="37326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Captura de demanda ativa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314825" y="3047702"/>
            <a:ext cx="146982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Eventos (HR Tech Summit)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50713" y="2929830"/>
            <a:ext cx="2421787" cy="37326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Captação B2B (Presença física)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314825" y="3420963"/>
            <a:ext cx="10251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"Black November"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150713" y="3303091"/>
            <a:ext cx="2421787" cy="37326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Pico de conversão (Campanha sazonal)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14825" y="3862983"/>
            <a:ext cx="17091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Webinars "Futuro do Trabalho"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150713" y="3676352"/>
            <a:ext cx="2421787" cy="51077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Autoridade de marca, engajamento e retenção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200525" y="4405015"/>
            <a:ext cx="4371975" cy="575072"/>
          </a:xfrm>
          <a:prstGeom prst="rect">
            <a:avLst/>
          </a:prstGeom>
          <a:solidFill>
            <a:srgbClr val="0F172A">
              <a:alpha val="3000"/>
            </a:srgbClr>
          </a:solidFill>
          <a:ln w="9144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606826"/>
            <a:ext cx="171450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29150" y="4555034"/>
            <a:ext cx="38004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Estratégia orientada por dados: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sem tiro no escuro, cada real investido </a:t>
            </a: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 canal e objetivo definidos.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94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Tecnologia que Gera Impacto Real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26914"/>
            <a:ext cx="6429375" cy="346472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combinação de NLP, Data Analytics e recomendação inteligente posiciona o Global Talent Bridge como uma plataforma de desenvolvimento de carreira, não apenas de recrutamento.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59136"/>
            <a:ext cx="3893344" cy="1635137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73448"/>
            <a:ext cx="285750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5863" y="1886843"/>
            <a:ext cx="30539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NLP (Processamento de Linguagem Natural)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85863" y="2187773"/>
            <a:ext cx="306466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Análise semântica avançada do currículo e dos requisitos das vagas para garantir um match preciso e contextual, superando a simples busca por palavras-chave.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79156" y="1659136"/>
            <a:ext cx="3893344" cy="1492151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873448"/>
            <a:ext cx="285750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93519" y="1886843"/>
            <a:ext cx="10019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293519" y="2187773"/>
            <a:ext cx="306466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Identificação proativa de lacunas de competência no perfil do candidato, permitindo a recomendação personalizada e imediata de trilhas de capacitação.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571500" y="3365599"/>
            <a:ext cx="3893344" cy="1492151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579912"/>
            <a:ext cx="285750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5863" y="3593306"/>
            <a:ext cx="26110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Integração com Plataformas Gratuitas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85863" y="3894237"/>
            <a:ext cx="306466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Conexão direta com ecossistemas educacionais (ex.: Santander Open Academy) para fechar o gap de habilidades e transformar rejeições em oportunidades.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4679156" y="3365599"/>
            <a:ext cx="3893344" cy="1492151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579912"/>
            <a:ext cx="285750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93519" y="3593306"/>
            <a:ext cx="1651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Visão de Impacto Social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293519" y="3894237"/>
            <a:ext cx="306466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Reduzir o gap de competências no mercado de trabalho brasileiro e conectar talentos nacionais ao mercado global, promovendo mobilidade social.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Os Arquitetos da Ponte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69777"/>
            <a:ext cx="8001000" cy="346472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Uma equipe técnica multidisciplinar com orientação acadêmica especializada constrói o Global Talent Bridge com precisão e visão humana.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8700" y="1701998"/>
            <a:ext cx="2566950" cy="60543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1575" y="1861840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25" y="191899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625" y="1852017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Bianca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1625" y="2035969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Estratégia e Marketing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288525" y="1701998"/>
            <a:ext cx="2566950" cy="60543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31400" y="1861840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50" y="1918990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31450" y="1852017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Eriane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31450" y="2035969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Produto e UX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998350" y="1701998"/>
            <a:ext cx="2566950" cy="60543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41225" y="1854696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44" y="1911846"/>
            <a:ext cx="214313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41275" y="1844873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Erik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541275" y="2028825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Desenvolvimento de Software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578700" y="2436019"/>
            <a:ext cx="2566950" cy="60543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21575" y="2595860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40" y="2653010"/>
            <a:ext cx="150019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1625" y="2586038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Gustavo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1625" y="2769989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 Analytics e IA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3288525" y="2436019"/>
            <a:ext cx="2566950" cy="60543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431400" y="2595860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550" y="2653010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31450" y="2586038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Kauã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3831450" y="2769989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Finanças e Modelo de Negócio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5998350" y="2436019"/>
            <a:ext cx="2566950" cy="605433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41225" y="2588716"/>
            <a:ext cx="285750" cy="285750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818CF8">
                <a:alpha val="2000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091" y="2645866"/>
            <a:ext cx="150019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541275" y="2578894"/>
            <a:ext cx="18811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Prof. Aimar Martins Lopes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6541275" y="2762845"/>
            <a:ext cx="1881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Orientador Acadêmico</a:t>
            </a:r>
            <a:endParaRPr lang="en-US" sz="750" dirty="0"/>
          </a:p>
        </p:txBody>
      </p:sp>
      <p:sp>
        <p:nvSpPr>
          <p:cNvPr id="35" name="Shape 26"/>
          <p:cNvSpPr/>
          <p:nvPr/>
        </p:nvSpPr>
        <p:spPr>
          <a:xfrm>
            <a:off x="571500" y="3957638"/>
            <a:ext cx="8001000" cy="900113"/>
          </a:xfrm>
          <a:prstGeom prst="rect">
            <a:avLst/>
          </a:prstGeom>
          <a:solidFill>
            <a:srgbClr val="0F172A">
              <a:alpha val="3000"/>
            </a:srgbClr>
          </a:solidFill>
          <a:ln/>
        </p:spPr>
      </p:sp>
      <p:sp>
        <p:nvSpPr>
          <p:cNvPr id="36" name="Shape 27"/>
          <p:cNvSpPr/>
          <p:nvPr/>
        </p:nvSpPr>
        <p:spPr>
          <a:xfrm>
            <a:off x="571500" y="3957638"/>
            <a:ext cx="8001000" cy="7144"/>
          </a:xfrm>
          <a:prstGeom prst="rect">
            <a:avLst/>
          </a:prstGeom>
          <a:solidFill>
            <a:srgbClr val="E7E8EA"/>
          </a:solidFill>
          <a:ln/>
        </p:spPr>
      </p:sp>
      <p:sp>
        <p:nvSpPr>
          <p:cNvPr id="37" name="Shape 28"/>
          <p:cNvSpPr/>
          <p:nvPr/>
        </p:nvSpPr>
        <p:spPr>
          <a:xfrm>
            <a:off x="571500" y="4850606"/>
            <a:ext cx="8001000" cy="7144"/>
          </a:xfrm>
          <a:prstGeom prst="rect">
            <a:avLst/>
          </a:prstGeom>
          <a:solidFill>
            <a:srgbClr val="E7E8EA"/>
          </a:solidFill>
          <a:ln/>
        </p:spPr>
      </p:sp>
      <p:sp>
        <p:nvSpPr>
          <p:cNvPr id="38" name="Text 29"/>
          <p:cNvSpPr/>
          <p:nvPr/>
        </p:nvSpPr>
        <p:spPr>
          <a:xfrm>
            <a:off x="785813" y="4186238"/>
            <a:ext cx="7572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Nossa missão vai além do match de emprego: </a:t>
            </a:r>
            <a:r>
              <a:rPr lang="en-US" sz="10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conectar o talento brasileiro às grandes oportunidades globais</a:t>
            </a:r>
            <a:r>
              <a:rPr lang="en-US" sz="10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1050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aliando precisão técnica com visão humana.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92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0"/>
            <a:ext cx="7772400" cy="5189209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14425" y="428625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spc="-1" kern="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talento existe. A ponte também. Falta você.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57338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00250" y="1543050"/>
            <a:ext cx="5429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mercado de trabalho digital precisa de </a:t>
            </a: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transparência, tecnologia e humanidade</a:t>
            </a: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e o Global Talent Bridge entrega os três.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128838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43113" y="2114550"/>
            <a:ext cx="5386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Estamos buscando </a:t>
            </a: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parceiros, investidores e early adopters</a:t>
            </a: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para escalar a </a:t>
            </a:r>
            <a:r>
              <a:rPr lang="en-US" sz="1050" dirty="0">
                <a:solidFill>
                  <a:srgbClr val="33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plataforma e ampliar o impacto.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1114425" y="2900363"/>
            <a:ext cx="6915150" cy="1183351"/>
          </a:xfrm>
          <a:prstGeom prst="rect">
            <a:avLst/>
          </a:prstGeom>
          <a:solidFill>
            <a:srgbClr val="818CF8">
              <a:alpha val="5000"/>
            </a:srgbClr>
          </a:solidFill>
          <a:ln/>
        </p:spPr>
      </p:sp>
      <p:sp>
        <p:nvSpPr>
          <p:cNvPr id="10" name="Shape 5"/>
          <p:cNvSpPr/>
          <p:nvPr/>
        </p:nvSpPr>
        <p:spPr>
          <a:xfrm>
            <a:off x="1114425" y="2900363"/>
            <a:ext cx="28575" cy="1183351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581" y="3043238"/>
            <a:ext cx="189309" cy="2143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00175" y="3114675"/>
            <a:ext cx="63436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0F172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"Nós viemos conectar o talento brasileiro às grandes oportunidades globais, aliando precisão técnica com visão humana e reduzindo o gap de competências."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1400175" y="3731884"/>
            <a:ext cx="6343650" cy="13751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— EQUIPE GLOBAL TALENT BRIDGE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398" y="4604314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73423" y="4590920"/>
            <a:ext cx="20502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contato@globaltalentbridge.com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430" y="4604314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209455" y="4590920"/>
            <a:ext cx="180379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www.globaltalentbridge.com</a:t>
            </a:r>
            <a:endParaRPr lang="en-US" sz="9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002" y="4604314"/>
            <a:ext cx="112514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482953" y="4590920"/>
            <a:ext cx="11876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/globaltalentbridge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2026-05-11T02:06:17Z</dcterms:created>
  <dcterms:modified xsi:type="dcterms:W3CDTF">2026-05-11T02:06:17Z</dcterms:modified>
</cp:coreProperties>
</file>